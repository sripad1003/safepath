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98450" indent="-298450" latinLnBrk="0">
      <a:defRPr sz="1400">
        <a:latin typeface="+mn-lt"/>
        <a:ea typeface="+mn-ea"/>
        <a:cs typeface="+mn-cs"/>
        <a:sym typeface="Arial"/>
      </a:defRPr>
    </a:lvl1pPr>
    <a:lvl2pPr marL="298450" indent="-69850" latinLnBrk="0">
      <a:defRPr sz="1400">
        <a:latin typeface="+mn-lt"/>
        <a:ea typeface="+mn-ea"/>
        <a:cs typeface="+mn-cs"/>
        <a:sym typeface="Arial"/>
      </a:defRPr>
    </a:lvl2pPr>
    <a:lvl3pPr marL="298450" indent="158750" latinLnBrk="0">
      <a:defRPr sz="1400">
        <a:latin typeface="+mn-lt"/>
        <a:ea typeface="+mn-ea"/>
        <a:cs typeface="+mn-cs"/>
        <a:sym typeface="Arial"/>
      </a:defRPr>
    </a:lvl3pPr>
    <a:lvl4pPr marL="298450" indent="387350" latinLnBrk="0">
      <a:defRPr sz="1400">
        <a:latin typeface="+mn-lt"/>
        <a:ea typeface="+mn-ea"/>
        <a:cs typeface="+mn-cs"/>
        <a:sym typeface="Arial"/>
      </a:defRPr>
    </a:lvl4pPr>
    <a:lvl5pPr marL="298450" indent="615950" latinLnBrk="0">
      <a:defRPr sz="1400">
        <a:latin typeface="+mn-lt"/>
        <a:ea typeface="+mn-ea"/>
        <a:cs typeface="+mn-cs"/>
        <a:sym typeface="Arial"/>
      </a:defRPr>
    </a:lvl5pPr>
    <a:lvl6pPr marL="298450" indent="844550" latinLnBrk="0">
      <a:defRPr sz="1400">
        <a:latin typeface="+mn-lt"/>
        <a:ea typeface="+mn-ea"/>
        <a:cs typeface="+mn-cs"/>
        <a:sym typeface="Arial"/>
      </a:defRPr>
    </a:lvl6pPr>
    <a:lvl7pPr marL="298450" indent="1073150" latinLnBrk="0">
      <a:defRPr sz="1400">
        <a:latin typeface="+mn-lt"/>
        <a:ea typeface="+mn-ea"/>
        <a:cs typeface="+mn-cs"/>
        <a:sym typeface="Arial"/>
      </a:defRPr>
    </a:lvl7pPr>
    <a:lvl8pPr marL="298450" indent="1301750" latinLnBrk="0">
      <a:defRPr sz="1400">
        <a:latin typeface="+mn-lt"/>
        <a:ea typeface="+mn-ea"/>
        <a:cs typeface="+mn-cs"/>
        <a:sym typeface="Arial"/>
      </a:defRPr>
    </a:lvl8pPr>
    <a:lvl9pPr marL="298450" indent="153035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0499" tIns="40499" rIns="40499" bIns="4049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0499" tIns="40499" rIns="40499" bIns="4049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21342" y="6415031"/>
            <a:ext cx="261058" cy="247763"/>
          </a:xfrm>
          <a:prstGeom prst="rect">
            <a:avLst/>
          </a:prstGeom>
          <a:ln w="12700">
            <a:miter lim="400000"/>
          </a:ln>
        </p:spPr>
        <p:txBody>
          <a:bodyPr wrap="none" lIns="40499" tIns="40499" rIns="40499" bIns="40499" anchor="ctr">
            <a:spAutoFit/>
          </a:bodyPr>
          <a:lstStyle>
            <a:lvl1pPr algn="r">
              <a:defRPr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79450" marR="0" indent="-22225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0922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5494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066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4638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210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3782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835400" marR="0" indent="-177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afe Path Recommendation"/>
          <p:cNvSpPr txBox="1"/>
          <p:nvPr/>
        </p:nvSpPr>
        <p:spPr>
          <a:xfrm>
            <a:off x="2470449" y="3652798"/>
            <a:ext cx="7711613" cy="655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74" tIns="30374" rIns="30374" bIns="30374" anchor="ctr">
            <a:spAutoFit/>
          </a:bodyPr>
          <a:lstStyle>
            <a:lvl1pPr algn="ctr">
              <a:defRPr sz="4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Safe Path Recommendation</a:t>
            </a:r>
          </a:p>
        </p:txBody>
      </p:sp>
      <p:sp>
        <p:nvSpPr>
          <p:cNvPr id="28" name="Department of Information Technology"/>
          <p:cNvSpPr txBox="1"/>
          <p:nvPr/>
        </p:nvSpPr>
        <p:spPr>
          <a:xfrm>
            <a:off x="3893115" y="2904667"/>
            <a:ext cx="4405770" cy="375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Department of Information Technology</a:t>
            </a:r>
          </a:p>
        </p:txBody>
      </p:sp>
      <p:sp>
        <p:nvSpPr>
          <p:cNvPr id="29" name="Roll No: 22BD1A1230…"/>
          <p:cNvSpPr txBox="1"/>
          <p:nvPr/>
        </p:nvSpPr>
        <p:spPr>
          <a:xfrm>
            <a:off x="9481953" y="4831654"/>
            <a:ext cx="2057163" cy="1454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Roll No: 22BD1A1230</a:t>
            </a:r>
          </a:p>
          <a:p>
            <a:pPr lvl="3" indent="685800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22BD1A1212</a:t>
            </a:r>
          </a:p>
          <a:p>
            <a:pPr lvl="3" indent="685800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22BD1A1220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22BD1A1236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SECTION: IT - A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GROUP NO: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bstract"/>
          <p:cNvSpPr txBox="1"/>
          <p:nvPr>
            <p:ph type="title" idx="4294967295"/>
          </p:nvPr>
        </p:nvSpPr>
        <p:spPr>
          <a:xfrm>
            <a:off x="914399" y="-355083"/>
            <a:ext cx="10363201" cy="147002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defRPr b="1" sz="4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Abstract</a:t>
            </a:r>
          </a:p>
        </p:txBody>
      </p:sp>
      <p:sp>
        <p:nvSpPr>
          <p:cNvPr id="32" name="Index…"/>
          <p:cNvSpPr txBox="1"/>
          <p:nvPr/>
        </p:nvSpPr>
        <p:spPr>
          <a:xfrm>
            <a:off x="1043658" y="1210319"/>
            <a:ext cx="3222891" cy="3278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Index</a:t>
            </a:r>
          </a:p>
          <a:p>
            <a:pPr marL="240631" indent="-240631" defTabSz="12700"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Abstract</a:t>
            </a:r>
          </a:p>
          <a:p>
            <a:pPr marL="240631" indent="-240631" defTabSz="12700"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Introduction</a:t>
            </a:r>
          </a:p>
          <a:p>
            <a:pPr marL="240631" indent="-240631" defTabSz="12700"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marL="240631" indent="-240631" defTabSz="12700"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Implementation</a:t>
            </a:r>
          </a:p>
          <a:p>
            <a:pPr marL="240631" indent="-240631" defTabSz="12700"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 marL="240631" indent="-240631" defTabSz="12700"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Enhancement</a:t>
            </a:r>
          </a:p>
          <a:p>
            <a:pPr marL="240631" indent="-240631" defTabSz="12700"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Introduction"/>
          <p:cNvSpPr txBox="1"/>
          <p:nvPr>
            <p:ph type="title" idx="4294967295"/>
          </p:nvPr>
        </p:nvSpPr>
        <p:spPr>
          <a:xfrm>
            <a:off x="609600" y="-36207"/>
            <a:ext cx="10972800" cy="11430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 sz="4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35" name="Recommends safest route instead of shortest…"/>
          <p:cNvSpPr txBox="1"/>
          <p:nvPr/>
        </p:nvSpPr>
        <p:spPr>
          <a:xfrm>
            <a:off x="469541" y="2026759"/>
            <a:ext cx="5896333" cy="2146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457200" indent="-317500" defTabSz="457200">
              <a:buSzPct val="100000"/>
              <a:buFont typeface="Times Roman"/>
              <a:buChar char="•"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Recommends </a:t>
            </a:r>
            <a:r>
              <a:t>safest route instead of shortest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Uses </a:t>
            </a:r>
            <a:r>
              <a:t>crime data + Google Maps APIs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Calculates </a:t>
            </a:r>
            <a:r>
              <a:t>Danger Index for each route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Applies </a:t>
            </a:r>
            <a:r>
              <a:t>K-means clustering for risk analysis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Visual indicators for </a:t>
            </a:r>
            <a:r>
              <a:rPr b="1"/>
              <a:t>safe → dangerous zones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Supports </a:t>
            </a:r>
            <a:r>
              <a:t>multiple travel modes (walk, drive, transit)</a:t>
            </a:r>
            <a:endParaRPr b="0"/>
          </a:p>
        </p:txBody>
      </p:sp>
      <p:pic>
        <p:nvPicPr>
          <p:cNvPr id="3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3087" y="1222348"/>
            <a:ext cx="2768601" cy="4229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BSTRACT:"/>
          <p:cNvSpPr txBox="1"/>
          <p:nvPr/>
        </p:nvSpPr>
        <p:spPr>
          <a:xfrm>
            <a:off x="4844952" y="126800"/>
            <a:ext cx="2502096" cy="560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300"/>
            </a:lvl1pPr>
          </a:lstStyle>
          <a:p>
            <a:pPr/>
            <a:r>
              <a:t>ABSTRACT:</a:t>
            </a:r>
          </a:p>
        </p:txBody>
      </p:sp>
      <p:sp>
        <p:nvSpPr>
          <p:cNvPr id="39" name="1. Urban navigation apps prioritize shortest/fastest routes, ignoring safety…"/>
          <p:cNvSpPr txBox="1"/>
          <p:nvPr/>
        </p:nvSpPr>
        <p:spPr>
          <a:xfrm>
            <a:off x="470100" y="1362828"/>
            <a:ext cx="7731831" cy="304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lnSpc>
                <a:spcPct val="110000"/>
              </a:lnSpc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Urban navigation apps prioritize </a:t>
            </a:r>
            <a:r>
              <a:rPr b="1"/>
              <a:t>shortest/fastest routes</a:t>
            </a:r>
            <a:r>
              <a:t>, ignoring safety</a:t>
            </a:r>
          </a:p>
          <a:p>
            <a:pPr defTabSz="457200">
              <a:lnSpc>
                <a:spcPct val="110000"/>
              </a:lnSpc>
              <a:defRPr b="1"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2.</a:t>
            </a:r>
            <a:r>
              <a:t> </a:t>
            </a:r>
            <a:r>
              <a:rPr b="0"/>
              <a:t>Our system introduces </a:t>
            </a:r>
            <a:r>
              <a:t>safety-aware route recommendation</a:t>
            </a:r>
            <a:endParaRPr b="0"/>
          </a:p>
          <a:p>
            <a:pPr defTabSz="457200">
              <a:lnSpc>
                <a:spcPct val="110000"/>
              </a:lnSpc>
              <a:defRPr b="1"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3. Integrates </a:t>
            </a:r>
            <a:r>
              <a:t>crime datasets + geospatial mapping</a:t>
            </a:r>
            <a:endParaRPr b="0"/>
          </a:p>
          <a:p>
            <a:pPr defTabSz="457200">
              <a:lnSpc>
                <a:spcPct val="110000"/>
              </a:lnSpc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4. </a:t>
            </a:r>
            <a:r>
              <a:t>Uses </a:t>
            </a:r>
            <a:r>
              <a:rPr b="1"/>
              <a:t>K-means clustering</a:t>
            </a:r>
            <a:r>
              <a:t> to identify high-risk zones</a:t>
            </a:r>
          </a:p>
          <a:p>
            <a:pPr defTabSz="457200">
              <a:lnSpc>
                <a:spcPct val="110000"/>
              </a:lnSpc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5. Computes a </a:t>
            </a:r>
            <a:r>
              <a:rPr b="1"/>
              <a:t>Danger Index</a:t>
            </a:r>
            <a:r>
              <a:t> for route evaluation</a:t>
            </a:r>
          </a:p>
          <a:p>
            <a:pPr defTabSz="457200">
              <a:lnSpc>
                <a:spcPct val="110000"/>
              </a:lnSpc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6. Compares multiple routes and suggests the </a:t>
            </a:r>
            <a:r>
              <a:rPr b="1"/>
              <a:t>safest option</a:t>
            </a:r>
          </a:p>
          <a:p>
            <a:pPr defTabSz="457200">
              <a:lnSpc>
                <a:spcPct val="110000"/>
              </a:lnSpc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7. Visualizes routes with </a:t>
            </a:r>
            <a:r>
              <a:rPr b="1"/>
              <a:t>risk-level indicators</a:t>
            </a:r>
          </a:p>
          <a:p>
            <a:pPr defTabSz="457200">
              <a:defRPr b="1"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8.</a:t>
            </a:r>
            <a:r>
              <a:t> </a:t>
            </a:r>
            <a:r>
              <a:rPr b="0"/>
              <a:t>Designed especially for </a:t>
            </a:r>
            <a:r>
              <a:t>women, night travel &amp; unfamiliar areas</a:t>
            </a:r>
            <a:endParaRPr b="0"/>
          </a:p>
        </p:txBody>
      </p:sp>
      <p:pic>
        <p:nvPicPr>
          <p:cNvPr id="4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61286" y="1904999"/>
            <a:ext cx="3377940" cy="3048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Literature Survey"/>
          <p:cNvSpPr txBox="1"/>
          <p:nvPr>
            <p:ph type="title" idx="4294967295"/>
          </p:nvPr>
        </p:nvSpPr>
        <p:spPr>
          <a:xfrm>
            <a:off x="609600" y="55895"/>
            <a:ext cx="10972800" cy="11430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 sz="4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Literature Survey</a:t>
            </a:r>
          </a:p>
        </p:txBody>
      </p:sp>
      <p:pic>
        <p:nvPicPr>
          <p:cNvPr id="4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6850" y="1459489"/>
            <a:ext cx="8464519" cy="30796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46971" y="1727468"/>
            <a:ext cx="3146967" cy="27058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RCHITECTURE DIAGRAM:"/>
          <p:cNvSpPr txBox="1"/>
          <p:nvPr>
            <p:ph type="title" idx="4294967295"/>
          </p:nvPr>
        </p:nvSpPr>
        <p:spPr>
          <a:xfrm>
            <a:off x="609599" y="-24694"/>
            <a:ext cx="10972801" cy="11430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 sz="33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ARCHITECTURE DIAGRAM:</a:t>
            </a:r>
          </a:p>
        </p:txBody>
      </p:sp>
      <p:pic>
        <p:nvPicPr>
          <p:cNvPr id="4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4772" y="897137"/>
            <a:ext cx="10065285" cy="54860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IMPLEMENTATION"/>
          <p:cNvSpPr txBox="1"/>
          <p:nvPr/>
        </p:nvSpPr>
        <p:spPr>
          <a:xfrm>
            <a:off x="4188514" y="153120"/>
            <a:ext cx="3767583" cy="560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300"/>
            </a:lvl1pPr>
          </a:lstStyle>
          <a:p>
            <a:pPr/>
            <a:r>
              <a:t>IMPLEMENTATION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Double-click to edit"/>
          <p:cNvSpPr txBox="1"/>
          <p:nvPr>
            <p:ph type="title" idx="4294967295"/>
          </p:nvPr>
        </p:nvSpPr>
        <p:spPr>
          <a:xfrm>
            <a:off x="609600" y="274637"/>
            <a:ext cx="10972800" cy="11430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algn="ctr">
              <a:defRPr sz="4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" name="Double-click to edit"/>
          <p:cNvSpPr txBox="1"/>
          <p:nvPr>
            <p:ph type="body" idx="4294967295"/>
          </p:nvPr>
        </p:nvSpPr>
        <p:spPr>
          <a:xfrm rot="5400000">
            <a:off x="3833018" y="-1623219"/>
            <a:ext cx="4525964" cy="10972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457200">
              <a:spcBef>
                <a:spcPts val="300"/>
              </a:spcBef>
              <a:buSzPts val="3300"/>
              <a:buChar char="•"/>
              <a:defRPr sz="33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0914 Thank You Note With Blue Pen On White Background Stock Photo |  PowerPoint Templates Download | PPT Background Template | Graphics  Presentation" descr="0914 Thank You Note With Blue Pen On White Background Stock Photo |  PowerPoint Templates Download | PPT Background Template | Graphics  Presentati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2162" y="0"/>
            <a:ext cx="8572501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